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F3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rand"/>
          <p:cNvSpPr txBox="1"/>
          <p:nvPr/>
        </p:nvSpPr>
        <p:spPr>
          <a:xfrm>
            <a:off x="680000" y="660000"/>
            <a:ext cx="25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100" b="1">
                <a:solidFill>
                  <a:srgbClr val="F2C94C"/>
                </a:solidFill>
              </a:rPr>
              <a:t>FANOUS</a:t>
            </a:r>
            <a:endParaRPr lang="en-US" sz="2100"/>
          </a:p>
          <a:p>
            <a:pPr>
              <a:buNone/>
            </a:pPr>
            <a:r>
              <a:rPr lang="en-US" sz="1550">
                <a:solidFill>
                  <a:srgbClr val="FFFFFF"/>
                </a:solidFill>
              </a:rPr>
              <a:t>Dormitory and Library Management System</a:t>
            </a:r>
            <a:endParaRPr lang="en-US" sz="1550"/>
          </a:p>
        </p:txBody>
      </p:sp>
      <p:sp>
        <p:nvSpPr>
          <p:cNvPr id="5" name="Title"/>
          <p:cNvSpPr txBox="1"/>
          <p:nvPr/>
        </p:nvSpPr>
        <p:spPr>
          <a:xfrm>
            <a:off x="680000" y="1700000"/>
            <a:ext cx="7600000" cy="150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4300" b="1">
                <a:solidFill>
                  <a:srgbClr val="FFFFFF"/>
                </a:solidFill>
              </a:rPr>
              <a:t>Complete Project Scope</a:t>
            </a:r>
            <a:endParaRPr lang="en-US" sz="4300"/>
          </a:p>
          <a:p>
            <a:pPr>
              <a:buNone/>
            </a:pPr>
            <a:r>
              <a:rPr lang="en-US" sz="2050">
                <a:solidFill>
                  <a:srgbClr val="E8F2EC"/>
                </a:solidFill>
              </a:rPr>
              <a:t>Scope, stack, database, pages, users, modules, and workflow</a:t>
            </a:r>
            <a:endParaRPr lang="en-US" sz="2050"/>
          </a:p>
        </p:txBody>
      </p:sp>
      <p:sp>
        <p:nvSpPr>
          <p:cNvPr id="6" name="Gold Card"/>
          <p:cNvSpPr/>
          <p:nvPr/>
        </p:nvSpPr>
        <p:spPr>
          <a:xfrm>
            <a:off x="8750000" y="1120000"/>
            <a:ext cx="2500000" cy="4200000"/>
          </a:xfrm>
          <a:prstGeom prst="round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over Stats"/>
          <p:cNvSpPr txBox="1"/>
          <p:nvPr/>
        </p:nvSpPr>
        <p:spPr>
          <a:xfrm>
            <a:off x="9100000" y="1520000"/>
            <a:ext cx="1850000" cy="3200000"/>
          </a:xfrm>
          <a:prstGeom prst="roundRect">
            <a:avLst/>
          </a:prstGeom>
          <a:solidFill>
            <a:srgbClr val="FFFDF7"/>
          </a:solidFill>
          <a:ln>
            <a:solidFill>
              <a:srgbClr val="FFFDF7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00" b="1">
                <a:solidFill>
                  <a:srgbClr val="123F32"/>
                </a:solidFill>
              </a:rPr>
              <a:t>Complete Project Deck</a:t>
            </a:r>
            <a:endParaRPr lang="en-US" sz="1800"/>
          </a:p>
          <a:p>
            <a:pPr>
              <a:buChar char="•"/>
            </a:pPr>
            <a:r>
              <a:rPr lang="en-US" sz="1750">
                <a:solidFill>
                  <a:srgbClr val="123F32"/>
                </a:solidFill>
              </a:rPr>
              <a:t>Scope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123F32"/>
                </a:solidFill>
              </a:rPr>
              <a:t>Technology stack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123F32"/>
                </a:solidFill>
              </a:rPr>
              <a:t>Database tables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123F32"/>
                </a:solidFill>
              </a:rPr>
              <a:t>Pages and routes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123F32"/>
                </a:solidFill>
              </a:rPr>
              <a:t>Users and access roles</a:t>
            </a:r>
            <a:endParaRPr lang="en-US"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02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Project Identity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What this project is built to manage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System name: Fanous Dormitory and Library Management System.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Primary domain: dormitory administration, student records, internal finance, food finance, library records, and membership cards.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Language and audience: Persian/Dari user interface with role-specific dashboards for operational staff.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Core value: replace scattered manual records with searchable profiles, receipts, reports, card printing, and controlled access.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03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Business Scope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Functional areas covered by the application</a:t>
            </a:r>
            <a:endParaRPr lang="en-US" sz="1450"/>
          </a:p>
        </p:txBody>
      </p:sp>
      <p:sp>
        <p:nvSpPr>
          <p:cNvPr id="7" name="Column"/>
          <p:cNvSpPr txBox="1"/>
          <p:nvPr/>
        </p:nvSpPr>
        <p:spPr>
          <a:xfrm>
            <a:off x="6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Dormitory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Student registration and profiles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Room capacity management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Bed assignment and movement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 membership cards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Student document uploads</a:t>
            </a:r>
            <a:endParaRPr lang="en-US" sz="1350"/>
          </a:p>
        </p:txBody>
      </p:sp>
      <p:sp>
        <p:nvSpPr>
          <p:cNvPr id="8" name="Column"/>
          <p:cNvSpPr txBox="1"/>
          <p:nvPr/>
        </p:nvSpPr>
        <p:spPr>
          <a:xfrm>
            <a:off x="43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Finance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Monthly fees, electricity, water, fines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Food contributions and expenses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Receipts for each record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Daily, weekly, monthly reports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Public transparency report</a:t>
            </a:r>
            <a:endParaRPr lang="en-US" sz="1350"/>
          </a:p>
        </p:txBody>
      </p:sp>
      <p:sp>
        <p:nvSpPr>
          <p:cNvPr id="9" name="Column"/>
          <p:cNvSpPr txBox="1"/>
          <p:nvPr/>
        </p:nvSpPr>
        <p:spPr>
          <a:xfrm>
            <a:off x="80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Library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Library members and cards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Book catalog and inventory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Loan and return workflow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Late/lost/returned statuses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Membership fee tracking</a:t>
            </a:r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04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Technology Stack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Detected from composer.json, package.json, Blade views, and Laravel structure</a:t>
            </a:r>
            <a:endParaRPr lang="en-US" sz="1450"/>
          </a:p>
        </p:txBody>
      </p:sp>
      <p:sp>
        <p:nvSpPr>
          <p:cNvPr id="7" name="Table Left"/>
          <p:cNvSpPr txBox="1"/>
          <p:nvPr/>
        </p:nvSpPr>
        <p:spPr>
          <a:xfrm>
            <a:off x="680000" y="152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Backend</a:t>
            </a:r>
            <a:endParaRPr lang="en-US" sz="1250"/>
          </a:p>
        </p:txBody>
      </p:sp>
      <p:sp>
        <p:nvSpPr>
          <p:cNvPr id="8" name="Table Right"/>
          <p:cNvSpPr txBox="1"/>
          <p:nvPr/>
        </p:nvSpPr>
        <p:spPr>
          <a:xfrm>
            <a:off x="3000000" y="152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PHP 8.2+, Laravel Framework 12, MVC controllers, Eloquent ORM, validation rules, middleware.</a:t>
            </a:r>
            <a:endParaRPr lang="en-US" sz="1180"/>
          </a:p>
        </p:txBody>
      </p:sp>
      <p:sp>
        <p:nvSpPr>
          <p:cNvPr id="9" name="Table Left"/>
          <p:cNvSpPr txBox="1"/>
          <p:nvPr/>
        </p:nvSpPr>
        <p:spPr>
          <a:xfrm>
            <a:off x="680000" y="199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Frontend</a:t>
            </a:r>
            <a:endParaRPr lang="en-US" sz="1250"/>
          </a:p>
        </p:txBody>
      </p:sp>
      <p:sp>
        <p:nvSpPr>
          <p:cNvPr id="10" name="Table Right"/>
          <p:cNvSpPr txBox="1"/>
          <p:nvPr/>
        </p:nvSpPr>
        <p:spPr>
          <a:xfrm>
            <a:off x="3000000" y="199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Blade templates, RTL Persian/Dari layout, embedded CSS components, Vite asset pipeline.</a:t>
            </a:r>
            <a:endParaRPr lang="en-US" sz="1180"/>
          </a:p>
        </p:txBody>
      </p:sp>
      <p:sp>
        <p:nvSpPr>
          <p:cNvPr id="11" name="Table Left"/>
          <p:cNvSpPr txBox="1"/>
          <p:nvPr/>
        </p:nvSpPr>
        <p:spPr>
          <a:xfrm>
            <a:off x="680000" y="246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CSS / UI</a:t>
            </a:r>
            <a:endParaRPr lang="en-US" sz="1250"/>
          </a:p>
        </p:txBody>
      </p:sp>
      <p:sp>
        <p:nvSpPr>
          <p:cNvPr id="12" name="Table Right"/>
          <p:cNvSpPr txBox="1"/>
          <p:nvPr/>
        </p:nvSpPr>
        <p:spPr>
          <a:xfrm>
            <a:off x="3000000" y="246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Tailwind CSS 4 dependency plus custom Blade-level styling, Vazir and other Persian fonts in public/font.</a:t>
            </a:r>
            <a:endParaRPr lang="en-US" sz="1180"/>
          </a:p>
        </p:txBody>
      </p:sp>
      <p:sp>
        <p:nvSpPr>
          <p:cNvPr id="13" name="Table Left"/>
          <p:cNvSpPr txBox="1"/>
          <p:nvPr/>
        </p:nvSpPr>
        <p:spPr>
          <a:xfrm>
            <a:off x="680000" y="293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Database</a:t>
            </a:r>
            <a:endParaRPr lang="en-US" sz="1250"/>
          </a:p>
        </p:txBody>
      </p:sp>
      <p:sp>
        <p:nvSpPr>
          <p:cNvPr id="14" name="Table Right"/>
          <p:cNvSpPr txBox="1"/>
          <p:nvPr/>
        </p:nvSpPr>
        <p:spPr>
          <a:xfrm>
            <a:off x="3000000" y="293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Laravel migrations and Eloquent models; suitable for MySQL/MariaDB in XAMPP or other Laravel-supported drivers.</a:t>
            </a:r>
            <a:endParaRPr lang="en-US" sz="1180"/>
          </a:p>
        </p:txBody>
      </p:sp>
      <p:sp>
        <p:nvSpPr>
          <p:cNvPr id="15" name="Table Left"/>
          <p:cNvSpPr txBox="1"/>
          <p:nvPr/>
        </p:nvSpPr>
        <p:spPr>
          <a:xfrm>
            <a:off x="680000" y="340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Tooling</a:t>
            </a:r>
            <a:endParaRPr lang="en-US" sz="1250"/>
          </a:p>
        </p:txBody>
      </p:sp>
      <p:sp>
        <p:nvSpPr>
          <p:cNvPr id="16" name="Table Right"/>
          <p:cNvSpPr txBox="1"/>
          <p:nvPr/>
        </p:nvSpPr>
        <p:spPr>
          <a:xfrm>
            <a:off x="3000000" y="340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Composer, npm, Vite 7, Laravel Vite plugin, PHPUnit/Pest testing stack, Laravel Pint.</a:t>
            </a:r>
            <a:endParaRPr lang="en-US" sz="1180"/>
          </a:p>
        </p:txBody>
      </p:sp>
      <p:sp>
        <p:nvSpPr>
          <p:cNvPr id="17" name="Table Left"/>
          <p:cNvSpPr txBox="1"/>
          <p:nvPr/>
        </p:nvSpPr>
        <p:spPr>
          <a:xfrm>
            <a:off x="680000" y="387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Authentication</a:t>
            </a:r>
            <a:endParaRPr lang="en-US" sz="1250"/>
          </a:p>
        </p:txBody>
      </p:sp>
      <p:sp>
        <p:nvSpPr>
          <p:cNvPr id="18" name="Table Right"/>
          <p:cNvSpPr txBox="1"/>
          <p:nvPr/>
        </p:nvSpPr>
        <p:spPr>
          <a:xfrm>
            <a:off x="3000000" y="387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Laravel session authentication, password hashing, remember token, role middleware.</a:t>
            </a:r>
            <a:endParaRPr lang="en-US" sz="11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05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Application Architecture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How requests move through the system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Browser sends requests to routes/web.php.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Laravel middleware checks guest/auth state and role permissions.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Controllers validate input and execute business logic.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Eloquent models persist data and load relationships.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Blade views render dashboards, forms, tables, receipts, and printable cards.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Migrations define the database schema for users, dormitory, finance, and library modules.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06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User Roles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Roles defined in App\Models\User</a:t>
            </a:r>
            <a:endParaRPr lang="en-US" sz="1450"/>
          </a:p>
        </p:txBody>
      </p:sp>
      <p:sp>
        <p:nvSpPr>
          <p:cNvPr id="7" name="Column"/>
          <p:cNvSpPr txBox="1"/>
          <p:nvPr/>
        </p:nvSpPr>
        <p:spPr>
          <a:xfrm>
            <a:off x="6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Management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owner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manager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admin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Can access admin area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Can manage users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Can manage dorm and library</a:t>
            </a:r>
            <a:endParaRPr lang="en-US" sz="1350"/>
          </a:p>
        </p:txBody>
      </p:sp>
      <p:sp>
        <p:nvSpPr>
          <p:cNvPr id="8" name="Column"/>
          <p:cNvSpPr txBox="1"/>
          <p:nvPr/>
        </p:nvSpPr>
        <p:spPr>
          <a:xfrm>
            <a:off x="43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Operations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guard views dorm student records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cook views active dorm students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student_representative records student collections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purchaser records food finance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librarian manages library</a:t>
            </a:r>
            <a:endParaRPr lang="en-US" sz="1350"/>
          </a:p>
        </p:txBody>
      </p:sp>
      <p:sp>
        <p:nvSpPr>
          <p:cNvPr id="9" name="Column"/>
          <p:cNvSpPr txBox="1"/>
          <p:nvPr/>
        </p:nvSpPr>
        <p:spPr>
          <a:xfrm>
            <a:off x="80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Member Types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dorm_student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library_member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applicant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Account statuses: pending, active, suspended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Only active users pass role middleware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07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Access Control Matrix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Route groups are protected by role middleware</a:t>
            </a:r>
            <a:endParaRPr lang="en-US" sz="1450"/>
          </a:p>
        </p:txBody>
      </p:sp>
      <p:sp>
        <p:nvSpPr>
          <p:cNvPr id="7" name="Table Left"/>
          <p:cNvSpPr txBox="1"/>
          <p:nvPr/>
        </p:nvSpPr>
        <p:spPr>
          <a:xfrm>
            <a:off x="680000" y="152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Public</a:t>
            </a:r>
            <a:endParaRPr lang="en-US" sz="1250"/>
          </a:p>
        </p:txBody>
      </p:sp>
      <p:sp>
        <p:nvSpPr>
          <p:cNvPr id="8" name="Table Right"/>
          <p:cNvSpPr txBox="1"/>
          <p:nvPr/>
        </p:nvSpPr>
        <p:spPr>
          <a:xfrm>
            <a:off x="3000000" y="152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/, /contact, /transparency, /login, /staff/setup</a:t>
            </a:r>
            <a:endParaRPr lang="en-US" sz="1180"/>
          </a:p>
        </p:txBody>
      </p:sp>
      <p:sp>
        <p:nvSpPr>
          <p:cNvPr id="9" name="Table Left"/>
          <p:cNvSpPr txBox="1"/>
          <p:nvPr/>
        </p:nvSpPr>
        <p:spPr>
          <a:xfrm>
            <a:off x="680000" y="199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Authenticated</a:t>
            </a:r>
            <a:endParaRPr lang="en-US" sz="1250"/>
          </a:p>
        </p:txBody>
      </p:sp>
      <p:sp>
        <p:nvSpPr>
          <p:cNvPr id="10" name="Table Right"/>
          <p:cNvSpPr txBox="1"/>
          <p:nvPr/>
        </p:nvSpPr>
        <p:spPr>
          <a:xfrm>
            <a:off x="3000000" y="199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/dashboard, /settings, /membership-cards/{card}/print</a:t>
            </a:r>
            <a:endParaRPr lang="en-US" sz="1180"/>
          </a:p>
        </p:txBody>
      </p:sp>
      <p:sp>
        <p:nvSpPr>
          <p:cNvPr id="11" name="Table Left"/>
          <p:cNvSpPr txBox="1"/>
          <p:nvPr/>
        </p:nvSpPr>
        <p:spPr>
          <a:xfrm>
            <a:off x="680000" y="246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Management</a:t>
            </a:r>
            <a:endParaRPr lang="en-US" sz="1250"/>
          </a:p>
        </p:txBody>
      </p:sp>
      <p:sp>
        <p:nvSpPr>
          <p:cNvPr id="12" name="Table Right"/>
          <p:cNvSpPr txBox="1"/>
          <p:nvPr/>
        </p:nvSpPr>
        <p:spPr>
          <a:xfrm>
            <a:off x="3000000" y="246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/admin, /admin/users, /dorm/rooms, dorm student create/edit/card</a:t>
            </a:r>
            <a:endParaRPr lang="en-US" sz="1180"/>
          </a:p>
        </p:txBody>
      </p:sp>
      <p:sp>
        <p:nvSpPr>
          <p:cNvPr id="13" name="Table Left"/>
          <p:cNvSpPr txBox="1"/>
          <p:nvPr/>
        </p:nvSpPr>
        <p:spPr>
          <a:xfrm>
            <a:off x="680000" y="293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Dorm Viewers</a:t>
            </a:r>
            <a:endParaRPr lang="en-US" sz="1250"/>
          </a:p>
        </p:txBody>
      </p:sp>
      <p:sp>
        <p:nvSpPr>
          <p:cNvPr id="14" name="Table Right"/>
          <p:cNvSpPr txBox="1"/>
          <p:nvPr/>
        </p:nvSpPr>
        <p:spPr>
          <a:xfrm>
            <a:off x="3000000" y="293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owner, manager, admin, student_representative, purchaser, guard, cook can view dorm student records.</a:t>
            </a:r>
            <a:endParaRPr lang="en-US" sz="1180"/>
          </a:p>
        </p:txBody>
      </p:sp>
      <p:sp>
        <p:nvSpPr>
          <p:cNvPr id="15" name="Table Left"/>
          <p:cNvSpPr txBox="1"/>
          <p:nvPr/>
        </p:nvSpPr>
        <p:spPr>
          <a:xfrm>
            <a:off x="680000" y="340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Representative</a:t>
            </a:r>
            <a:endParaRPr lang="en-US" sz="1250"/>
          </a:p>
        </p:txBody>
      </p:sp>
      <p:sp>
        <p:nvSpPr>
          <p:cNvPr id="16" name="Table Right"/>
          <p:cNvSpPr txBox="1"/>
          <p:nvPr/>
        </p:nvSpPr>
        <p:spPr>
          <a:xfrm>
            <a:off x="3000000" y="340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owner, manager, admin, student_representative can view reports; only student_representative stores collection records.</a:t>
            </a:r>
            <a:endParaRPr lang="en-US" sz="1180"/>
          </a:p>
        </p:txBody>
      </p:sp>
      <p:sp>
        <p:nvSpPr>
          <p:cNvPr id="17" name="Table Left"/>
          <p:cNvSpPr txBox="1"/>
          <p:nvPr/>
        </p:nvSpPr>
        <p:spPr>
          <a:xfrm>
            <a:off x="680000" y="387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Purchaser</a:t>
            </a:r>
            <a:endParaRPr lang="en-US" sz="1250"/>
          </a:p>
        </p:txBody>
      </p:sp>
      <p:sp>
        <p:nvSpPr>
          <p:cNvPr id="18" name="Table Right"/>
          <p:cNvSpPr txBox="1"/>
          <p:nvPr/>
        </p:nvSpPr>
        <p:spPr>
          <a:xfrm>
            <a:off x="3000000" y="387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owner, manager, admin, purchaser can view reports; only purchaser stores food finance records.</a:t>
            </a:r>
            <a:endParaRPr lang="en-US" sz="1180"/>
          </a:p>
        </p:txBody>
      </p:sp>
      <p:sp>
        <p:nvSpPr>
          <p:cNvPr id="19" name="Table Left"/>
          <p:cNvSpPr txBox="1"/>
          <p:nvPr/>
        </p:nvSpPr>
        <p:spPr>
          <a:xfrm>
            <a:off x="680000" y="434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Library</a:t>
            </a:r>
            <a:endParaRPr lang="en-US" sz="1250"/>
          </a:p>
        </p:txBody>
      </p:sp>
      <p:sp>
        <p:nvSpPr>
          <p:cNvPr id="20" name="Table Right"/>
          <p:cNvSpPr txBox="1"/>
          <p:nvPr/>
        </p:nvSpPr>
        <p:spPr>
          <a:xfrm>
            <a:off x="3000000" y="434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owner, manager, admin, librarian can view; management and librarian can create/update members, books, and loans.</a:t>
            </a:r>
            <a:endParaRPr lang="en-US" sz="11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08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Page And Route Map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Main screens exposed by routes/web.php</a:t>
            </a:r>
            <a:endParaRPr lang="en-US" sz="1450"/>
          </a:p>
        </p:txBody>
      </p:sp>
      <p:sp>
        <p:nvSpPr>
          <p:cNvPr id="7" name="Column"/>
          <p:cNvSpPr txBox="1"/>
          <p:nvPr/>
        </p:nvSpPr>
        <p:spPr>
          <a:xfrm>
            <a:off x="6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Public / Auth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Home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Contact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Transparency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Login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First staff setup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Logout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Account settings</a:t>
            </a:r>
            <a:endParaRPr lang="en-US" sz="1350"/>
          </a:p>
        </p:txBody>
      </p:sp>
      <p:sp>
        <p:nvSpPr>
          <p:cNvPr id="8" name="Column"/>
          <p:cNvSpPr txBox="1"/>
          <p:nvPr/>
        </p:nvSpPr>
        <p:spPr>
          <a:xfrm>
            <a:off x="43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Dorm / Finance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Dashboard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 students index/details/form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 rooms index/show/form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Representative index/report/receipt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Purchaser index/report/receipt</a:t>
            </a:r>
            <a:endParaRPr lang="en-US" sz="1350"/>
          </a:p>
        </p:txBody>
      </p:sp>
      <p:sp>
        <p:nvSpPr>
          <p:cNvPr id="9" name="Column"/>
          <p:cNvSpPr txBox="1"/>
          <p:nvPr/>
        </p:nvSpPr>
        <p:spPr>
          <a:xfrm>
            <a:off x="80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Admin / Library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Admin dashboard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Users index/create/edit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Library dashboard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Member profile/form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Book form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Loan form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Card print page</a:t>
            </a:r>
            <a:endParaRPr lang="en-US"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09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Management Module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Owner, manager, and admin workspace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Admin dashboard summarizes total users, active users, pending users, and recent users.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User management creates and updates staff accounts, roles, statuses, phone, email, and passwords.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Protected account rules prevent users from changing their own role/status and prevent non-owners from managing owner accounts.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Management users also access dorm rooms, dorm students, representative reports, purchaser reports, and library reports.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10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Dorm Student Module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Student record lifecycle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Search and filter students by name, father name, phone, tazkira number, room number, and status.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Store personal, contact, education, room, bed, guarantor, status, notes, and uploaded documents.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Student profile combines room, registration user, cards, representative collections, and food finance records.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Optional dorm card issue creates a printable card with fee, payment status, issue date, and six-month expiry.</a:t>
            </a:r>
            <a:endParaRPr lang="en-US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11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Dorm Room Module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Capacity and bed management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Rooms use unique room numbers, capacity of 4, 6, or 8, optional floor, status, and notes.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Room index summarizes total capacity and occupied beds.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Room detail supports assigning unassigned active students, moving students, and removing students from rooms.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Validation prevents assignment to inactive rooms, over-capacity rooms, and duplicate active bed numbers.</a:t>
            </a:r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12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Student Representative Finance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Student-facing dorm collections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Records monthly fee, electricity, fine, water, and representative expense entries.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Income records can be attached to a dorm student; expense records can be general.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Index shows recent collections, totals by type, income, expenses, and balance.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Report supports date range, period, type, and daily/weekly/monthly grouping.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Each stored record redirects to a printable receipt.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13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Purchaser And Food Finance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Food money and expense tracking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Tracks contribution, weekly food, monthly fee, electricity, water, and expense records.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Purchaser can search active students and see each student food paid total.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Records include date, period, amount, vendor/source, description, recorder, and optional student.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Report computes total collected, total expenses, balance, per-student totals, and grouped summaries.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Each stored food finance record has a printable receipt.</a:t>
            </a:r>
            <a:endParaRPr lang="en-US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14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Library Module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Members, books, loans, cards, and payments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Library dashboard lists members, latest books, latest loans, expiring members, and expired unpaid cards.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Members include code, personal info, education, address, fee, payment status, expiry, and notes.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Books include ISBN, title, author, publisher, language, edition, year, pages, category, shelf, barcode, copies, and status.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Loans decrease available book copies on issue and increase copies when returned.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Loan tracking includes due date, returned date, condition out/in, fine amount, and status.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15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Cards, Receipts, And Printing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Printable operational documents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Membership cards are polymorphic and can belong to dorm students or library members.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Dorm cards use scope=dorm and expire after six months.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Library cards use scope=library and expire after one month while updating member payment due dates.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Card print page is restricted to management users, with library cards also accessible to librarians.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Representative and purchaser receipt pages format individual finance records for printing.</a:t>
            </a:r>
            <a:endParaRPr lang="en-US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16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Transparency And Reporting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Public trust and internal summaries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Transparency page combines food finance, representative collections, and library membership revenue.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Filters support date range and period.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Reports compute income, expense, balance, breakdown by type, recent ledger rows, and monthly summaries.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Library stats show active members, total books, available copies, active loans, late loans, and returned loans.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If finance tables are not migrated yet, the controller safely returns empty report data.</a:t>
            </a:r>
            <a:endParaRPr lang="en-US"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17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Database Overview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Tables created by Laravel migrations</a:t>
            </a:r>
            <a:endParaRPr lang="en-US" sz="1450"/>
          </a:p>
        </p:txBody>
      </p:sp>
      <p:sp>
        <p:nvSpPr>
          <p:cNvPr id="7" name="Column"/>
          <p:cNvSpPr txBox="1"/>
          <p:nvPr/>
        </p:nvSpPr>
        <p:spPr>
          <a:xfrm>
            <a:off x="6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Core / System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users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password_reset_tokens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sessions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cache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cache_locks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jobs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job_batches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failed_jobs</a:t>
            </a:r>
            <a:endParaRPr lang="en-US" sz="1350"/>
          </a:p>
        </p:txBody>
      </p:sp>
      <p:sp>
        <p:nvSpPr>
          <p:cNvPr id="8" name="Column"/>
          <p:cNvSpPr txBox="1"/>
          <p:nvPr/>
        </p:nvSpPr>
        <p:spPr>
          <a:xfrm>
            <a:off x="43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Dorm / Finance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dorm_rooms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dorm_students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student_collections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food_finances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dorm_expenses</a:t>
            </a:r>
            <a:endParaRPr lang="en-US" sz="1350"/>
          </a:p>
        </p:txBody>
      </p:sp>
      <p:sp>
        <p:nvSpPr>
          <p:cNvPr id="9" name="Column"/>
          <p:cNvSpPr txBox="1"/>
          <p:nvPr/>
        </p:nvSpPr>
        <p:spPr>
          <a:xfrm>
            <a:off x="80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Library / Cards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library_members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books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book_loans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membership_cards</a:t>
            </a:r>
            <a:endParaRPr lang="en-US"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18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Core Tables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Primary user and dormitory schema</a:t>
            </a:r>
            <a:endParaRPr lang="en-US" sz="1450"/>
          </a:p>
        </p:txBody>
      </p:sp>
      <p:sp>
        <p:nvSpPr>
          <p:cNvPr id="7" name="Table Left"/>
          <p:cNvSpPr txBox="1"/>
          <p:nvPr/>
        </p:nvSpPr>
        <p:spPr>
          <a:xfrm>
            <a:off x="680000" y="152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users</a:t>
            </a:r>
            <a:endParaRPr lang="en-US" sz="1250"/>
          </a:p>
        </p:txBody>
      </p:sp>
      <p:sp>
        <p:nvSpPr>
          <p:cNvPr id="8" name="Table Right"/>
          <p:cNvSpPr txBox="1"/>
          <p:nvPr/>
        </p:nvSpPr>
        <p:spPr>
          <a:xfrm>
            <a:off x="3000000" y="152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name, email, phone, role, status, theme, password, remember_token, email_verified_at, timestamps.</a:t>
            </a:r>
            <a:endParaRPr lang="en-US" sz="1180"/>
          </a:p>
        </p:txBody>
      </p:sp>
      <p:sp>
        <p:nvSpPr>
          <p:cNvPr id="9" name="Table Left"/>
          <p:cNvSpPr txBox="1"/>
          <p:nvPr/>
        </p:nvSpPr>
        <p:spPr>
          <a:xfrm>
            <a:off x="680000" y="199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dorm_rooms</a:t>
            </a:r>
            <a:endParaRPr lang="en-US" sz="1250"/>
          </a:p>
        </p:txBody>
      </p:sp>
      <p:sp>
        <p:nvSpPr>
          <p:cNvPr id="10" name="Table Right"/>
          <p:cNvSpPr txBox="1"/>
          <p:nvPr/>
        </p:nvSpPr>
        <p:spPr>
          <a:xfrm>
            <a:off x="3000000" y="199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room_number unique, capacity, floor, status, notes, timestamps.</a:t>
            </a:r>
            <a:endParaRPr lang="en-US" sz="1180"/>
          </a:p>
        </p:txBody>
      </p:sp>
      <p:sp>
        <p:nvSpPr>
          <p:cNvPr id="11" name="Table Left"/>
          <p:cNvSpPr txBox="1"/>
          <p:nvPr/>
        </p:nvSpPr>
        <p:spPr>
          <a:xfrm>
            <a:off x="680000" y="246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dorm_students</a:t>
            </a:r>
            <a:endParaRPr lang="en-US" sz="1250"/>
          </a:p>
        </p:txBody>
      </p:sp>
      <p:sp>
        <p:nvSpPr>
          <p:cNvPr id="12" name="Table Right"/>
          <p:cNvSpPr txBox="1"/>
          <p:nvPr/>
        </p:nvSpPr>
        <p:spPr>
          <a:xfrm>
            <a:off x="3000000" y="246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registered_by, dorm_room_id, full_name, father_name, phone, whatsapp, email, tazkira_number, education_place, department_or_grade, province, room_number, bed_number, guarantor fields, documents JSON, status, joined_at, notes.</a:t>
            </a:r>
            <a:endParaRPr lang="en-US" sz="1180"/>
          </a:p>
        </p:txBody>
      </p:sp>
      <p:sp>
        <p:nvSpPr>
          <p:cNvPr id="13" name="Table Left"/>
          <p:cNvSpPr txBox="1"/>
          <p:nvPr/>
        </p:nvSpPr>
        <p:spPr>
          <a:xfrm>
            <a:off x="680000" y="293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membership_cards</a:t>
            </a:r>
            <a:endParaRPr lang="en-US" sz="1250"/>
          </a:p>
        </p:txBody>
      </p:sp>
      <p:sp>
        <p:nvSpPr>
          <p:cNvPr id="14" name="Table Right"/>
          <p:cNvSpPr txBox="1"/>
          <p:nvPr/>
        </p:nvSpPr>
        <p:spPr>
          <a:xfrm>
            <a:off x="3000000" y="293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cardable_type/id, scope, card_number unique, holder_name, father_name, issued_at, expires_at, fee_amount, payment_status, paid_at, created_by, notes.</a:t>
            </a:r>
            <a:endParaRPr lang="en-US" sz="118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19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Finance Tables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Money collection and expenditure schema</a:t>
            </a:r>
            <a:endParaRPr lang="en-US" sz="1450"/>
          </a:p>
        </p:txBody>
      </p:sp>
      <p:sp>
        <p:nvSpPr>
          <p:cNvPr id="7" name="Table Left"/>
          <p:cNvSpPr txBox="1"/>
          <p:nvPr/>
        </p:nvSpPr>
        <p:spPr>
          <a:xfrm>
            <a:off x="680000" y="152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student_collections</a:t>
            </a:r>
            <a:endParaRPr lang="en-US" sz="1250"/>
          </a:p>
        </p:txBody>
      </p:sp>
      <p:sp>
        <p:nvSpPr>
          <p:cNvPr id="8" name="Table Right"/>
          <p:cNvSpPr txBox="1"/>
          <p:nvPr/>
        </p:nvSpPr>
        <p:spPr>
          <a:xfrm>
            <a:off x="3000000" y="152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dorm_student_id nullable, recorded_by, type, amount, collected_at, period, notes, timestamps.</a:t>
            </a:r>
            <a:endParaRPr lang="en-US" sz="1180"/>
          </a:p>
        </p:txBody>
      </p:sp>
      <p:sp>
        <p:nvSpPr>
          <p:cNvPr id="9" name="Table Left"/>
          <p:cNvSpPr txBox="1"/>
          <p:nvPr/>
        </p:nvSpPr>
        <p:spPr>
          <a:xfrm>
            <a:off x="680000" y="199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food_finances</a:t>
            </a:r>
            <a:endParaRPr lang="en-US" sz="1250"/>
          </a:p>
        </p:txBody>
      </p:sp>
      <p:sp>
        <p:nvSpPr>
          <p:cNvPr id="10" name="Table Right"/>
          <p:cNvSpPr txBox="1"/>
          <p:nvPr/>
        </p:nvSpPr>
        <p:spPr>
          <a:xfrm>
            <a:off x="3000000" y="199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dorm_student_id nullable, recorded_by, type, amount, recorded_at, period, vendor_or_source, description, timestamps.</a:t>
            </a:r>
            <a:endParaRPr lang="en-US" sz="1180"/>
          </a:p>
        </p:txBody>
      </p:sp>
      <p:sp>
        <p:nvSpPr>
          <p:cNvPr id="11" name="Table Left"/>
          <p:cNvSpPr txBox="1"/>
          <p:nvPr/>
        </p:nvSpPr>
        <p:spPr>
          <a:xfrm>
            <a:off x="680000" y="246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dorm_expenses</a:t>
            </a:r>
            <a:endParaRPr lang="en-US" sz="1250"/>
          </a:p>
        </p:txBody>
      </p:sp>
      <p:sp>
        <p:nvSpPr>
          <p:cNvPr id="12" name="Table Right"/>
          <p:cNvSpPr txBox="1"/>
          <p:nvPr/>
        </p:nvSpPr>
        <p:spPr>
          <a:xfrm>
            <a:off x="3000000" y="246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category, title, amount decimal, spent_on, paid_to, notes, created_by, timestamps.</a:t>
            </a:r>
            <a:endParaRPr lang="en-US" sz="1180"/>
          </a:p>
        </p:txBody>
      </p:sp>
      <p:sp>
        <p:nvSpPr>
          <p:cNvPr id="13" name="Table Left"/>
          <p:cNvSpPr txBox="1"/>
          <p:nvPr/>
        </p:nvSpPr>
        <p:spPr>
          <a:xfrm>
            <a:off x="680000" y="293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Meaning</a:t>
            </a:r>
            <a:endParaRPr lang="en-US" sz="1250"/>
          </a:p>
        </p:txBody>
      </p:sp>
      <p:sp>
        <p:nvSpPr>
          <p:cNvPr id="14" name="Table Right"/>
          <p:cNvSpPr txBox="1"/>
          <p:nvPr/>
        </p:nvSpPr>
        <p:spPr>
          <a:xfrm>
            <a:off x="3000000" y="293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student_collections supports representative dorm charges; food_finances supports food/purchaser money flow; dorm_expenses exists for general dorm expense categories.</a:t>
            </a:r>
            <a:endParaRPr lang="en-US" sz="118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20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Library Tables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Members, inventory, and lending schema</a:t>
            </a:r>
            <a:endParaRPr lang="en-US" sz="1450"/>
          </a:p>
        </p:txBody>
      </p:sp>
      <p:sp>
        <p:nvSpPr>
          <p:cNvPr id="7" name="Table Left"/>
          <p:cNvSpPr txBox="1"/>
          <p:nvPr/>
        </p:nvSpPr>
        <p:spPr>
          <a:xfrm>
            <a:off x="680000" y="152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library_members</a:t>
            </a:r>
            <a:endParaRPr lang="en-US" sz="1250"/>
          </a:p>
        </p:txBody>
      </p:sp>
      <p:sp>
        <p:nvSpPr>
          <p:cNvPr id="8" name="Table Right"/>
          <p:cNvSpPr txBox="1"/>
          <p:nvPr/>
        </p:nvSpPr>
        <p:spPr>
          <a:xfrm>
            <a:off x="3000000" y="152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registered_by, member_code, full_name, father_name, phone, email, tazkira_number, education_place, department_or_grade, address, membership_fee, payment_status, dates, status, notes.</a:t>
            </a:r>
            <a:endParaRPr lang="en-US" sz="1180"/>
          </a:p>
        </p:txBody>
      </p:sp>
      <p:sp>
        <p:nvSpPr>
          <p:cNvPr id="9" name="Table Left"/>
          <p:cNvSpPr txBox="1"/>
          <p:nvPr/>
        </p:nvSpPr>
        <p:spPr>
          <a:xfrm>
            <a:off x="680000" y="199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books</a:t>
            </a:r>
            <a:endParaRPr lang="en-US" sz="1250"/>
          </a:p>
        </p:txBody>
      </p:sp>
      <p:sp>
        <p:nvSpPr>
          <p:cNvPr id="10" name="Table Right"/>
          <p:cNvSpPr txBox="1"/>
          <p:nvPr/>
        </p:nvSpPr>
        <p:spPr>
          <a:xfrm>
            <a:off x="3000000" y="199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registered_by, isbn, title, author, publisher, language, edition, published_year, pages, category, shelf_code, barcode, total_copies, available_copies, status, notes.</a:t>
            </a:r>
            <a:endParaRPr lang="en-US" sz="1180"/>
          </a:p>
        </p:txBody>
      </p:sp>
      <p:sp>
        <p:nvSpPr>
          <p:cNvPr id="11" name="Table Left"/>
          <p:cNvSpPr txBox="1"/>
          <p:nvPr/>
        </p:nvSpPr>
        <p:spPr>
          <a:xfrm>
            <a:off x="680000" y="2460000"/>
            <a:ext cx="23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50" b="1">
                <a:solidFill>
                  <a:srgbClr val="123F32"/>
                </a:solidFill>
              </a:rPr>
              <a:t>book_loans</a:t>
            </a:r>
            <a:endParaRPr lang="en-US" sz="1250"/>
          </a:p>
        </p:txBody>
      </p:sp>
      <p:sp>
        <p:nvSpPr>
          <p:cNvPr id="12" name="Table Right"/>
          <p:cNvSpPr txBox="1"/>
          <p:nvPr/>
        </p:nvSpPr>
        <p:spPr>
          <a:xfrm>
            <a:off x="3000000" y="2460000"/>
            <a:ext cx="7800000" cy="42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180">
                <a:solidFill>
                  <a:srgbClr val="263238"/>
                </a:solidFill>
              </a:rPr>
              <a:t>id, library_member_id, book_id, recorded_by, loan_code, borrowed_at, due_at, returned_at, condition_out, condition_in, fine_amount, status, notes.</a:t>
            </a:r>
            <a:endParaRPr lang="en-US" sz="118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21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Model Relationships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Important Eloquent associations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User registers dorm students, library members, books, finance records, cards, and expenses through foreign keys.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DormRoom has many DormStudents; DormStudent belongs to DormRoom.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DormStudent has many StudentCollections and FoodFinances.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DormStudent and LibraryMember both have many MembershipCards through a polymorphic cardable relation.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LibraryMember has many BookLoans; Book has many BookLoans; BookLoan belongs to both member and book.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FoodFinance and StudentCollection belong to the recording User and optionally to a DormStudent.</a:t>
            </a:r>
            <a:endParaRPr lang="en-US"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22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Validation And Data Integrity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Rules enforced in controllers and migrations</a:t>
            </a:r>
            <a:endParaRPr lang="en-US" sz="1450"/>
          </a:p>
        </p:txBody>
      </p:sp>
      <p:sp>
        <p:nvSpPr>
          <p:cNvPr id="7" name="Content"/>
          <p:cNvSpPr txBox="1"/>
          <p:nvPr/>
        </p:nvSpPr>
        <p:spPr>
          <a:xfrm>
            <a:off x="780000" y="1540000"/>
            <a:ext cx="10350000" cy="455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Unique email for users, room_number for rooms, card_number for cards, member_code for library members, barcode for books, and loan_code for loans.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Dorm room capacity constrained to 4, 6, or 8 students.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Student documents are limited to jpg, jpeg, png, pdf, doc, and docx with a 5 MB max per file.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Loan creation uses a database transaction and row lock before decrementing available book copies.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Role middleware denies inactive accounts and users outside allowed role lists.</a:t>
            </a:r>
            <a:endParaRPr lang="en-US" sz="1500"/>
          </a:p>
          <a:p>
            <a:pPr>
              <a:buChar char="•"/>
            </a:pPr>
            <a:r>
              <a:rPr lang="en-US" sz="1500">
                <a:solidFill>
                  <a:srgbClr val="263238"/>
                </a:solidFill>
              </a:rPr>
              <a:t>Settings enforce current password confirmation before password changes.</a:t>
            </a:r>
            <a:endParaRPr lang="en-US"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10440000" y="265000"/>
            <a:ext cx="1000000" cy="26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607D6D"/>
                </a:solidFill>
              </a:rPr>
              <a:t>23</a:t>
            </a:r>
            <a:endParaRPr lang="en-US" sz="1200"/>
          </a:p>
        </p:txBody>
      </p:sp>
      <p:sp>
        <p:nvSpPr>
          <p:cNvPr id="5" name="Title"/>
          <p:cNvSpPr txBox="1"/>
          <p:nvPr/>
        </p:nvSpPr>
        <p:spPr>
          <a:xfrm>
            <a:off x="650000" y="430000"/>
            <a:ext cx="85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2850" b="1">
                <a:solidFill>
                  <a:srgbClr val="123F32"/>
                </a:solidFill>
              </a:rPr>
              <a:t>Project Completion Snapshot</a:t>
            </a:r>
            <a:endParaRPr lang="en-US" sz="2850"/>
          </a:p>
        </p:txBody>
      </p:sp>
      <p:sp>
        <p:nvSpPr>
          <p:cNvPr id="6" name="Subtitle"/>
          <p:cNvSpPr txBox="1"/>
          <p:nvPr/>
        </p:nvSpPr>
        <p:spPr>
          <a:xfrm>
            <a:off x="660000" y="980000"/>
            <a:ext cx="9300000" cy="420000"/>
          </a:xfrm>
          <a:prstGeom prst="round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450">
                <a:solidFill>
                  <a:srgbClr val="607D6D"/>
                </a:solidFill>
              </a:rPr>
              <a:t>What exists now and natural next steps</a:t>
            </a:r>
            <a:endParaRPr lang="en-US" sz="1450"/>
          </a:p>
        </p:txBody>
      </p:sp>
      <p:sp>
        <p:nvSpPr>
          <p:cNvPr id="7" name="Column"/>
          <p:cNvSpPr txBox="1"/>
          <p:nvPr/>
        </p:nvSpPr>
        <p:spPr>
          <a:xfrm>
            <a:off x="6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Implemented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Auth and first owner setup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Role-based dashboards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 student and room workflows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Representative and purchaser finance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Library members/books/loans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Cards, receipts, transparency</a:t>
            </a:r>
            <a:endParaRPr lang="en-US" sz="1350"/>
          </a:p>
        </p:txBody>
      </p:sp>
      <p:sp>
        <p:nvSpPr>
          <p:cNvPr id="8" name="Column"/>
          <p:cNvSpPr txBox="1"/>
          <p:nvPr/>
        </p:nvSpPr>
        <p:spPr>
          <a:xfrm>
            <a:off x="43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Partially Present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dorm_expenses table and model exist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Example tests only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Some simple sample routes/views remain: home and portfolio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Persian UI text is present throughout</a:t>
            </a:r>
            <a:endParaRPr lang="en-US" sz="1350"/>
          </a:p>
        </p:txBody>
      </p:sp>
      <p:sp>
        <p:nvSpPr>
          <p:cNvPr id="9" name="Column"/>
          <p:cNvSpPr txBox="1"/>
          <p:nvPr/>
        </p:nvSpPr>
        <p:spPr>
          <a:xfrm>
            <a:off x="8080000" y="1620000"/>
            <a:ext cx="3420000" cy="4400000"/>
          </a:xfrm>
          <a:prstGeom prst="roundRect">
            <a:avLst/>
          </a:prstGeom>
          <a:solidFill>
            <a:srgbClr val="FFFFFF"/>
          </a:solidFill>
          <a:ln>
            <a:solidFill>
              <a:srgbClr val="DCE7DE"/>
            </a:solidFill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en-US" sz="1850" b="1">
                <a:solidFill>
                  <a:srgbClr val="123F32"/>
                </a:solidFill>
              </a:rPr>
              <a:t>Recommended Next</a:t>
            </a:r>
            <a:endParaRPr lang="en-US" sz="18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Add feature tests for role access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Add CRUD UI for dorm_expenses if needed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Export reports to PDF/Excel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Add audit trail for finance edits</a:t>
            </a:r>
            <a:endParaRPr lang="en-US" sz="1350"/>
          </a:p>
          <a:p>
            <a:pPr>
              <a:buChar char="•"/>
            </a:pPr>
            <a:r>
              <a:rPr lang="en-US" sz="1350">
                <a:solidFill>
                  <a:srgbClr val="263238"/>
                </a:solidFill>
              </a:rPr>
              <a:t>Add seed data for demo presentation</a:t>
            </a:r>
            <a:endParaRPr lang="en-US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nous">
  <a:themeElements>
    <a:clrScheme name="Fanous">
      <a:dk1>
        <a:srgbClr val="123F32"/>
      </a:dk1>
      <a:lt1>
        <a:srgbClr val="FFFDF7"/>
      </a:lt1>
      <a:dk2>
        <a:srgbClr val="263238"/>
      </a:dk2>
      <a:lt2>
        <a:srgbClr val="F8F6EE"/>
      </a:lt2>
      <a:accent1>
        <a:srgbClr val="F2C94C"/>
      </a:accent1>
      <a:accent2>
        <a:srgbClr val="24963E"/>
      </a:accent2>
      <a:accent3>
        <a:srgbClr val="607D6D"/>
      </a:accent3>
      <a:accent4>
        <a:srgbClr val="EAF8ED"/>
      </a:accent4>
      <a:accent5>
        <a:srgbClr val="BEE4CC"/>
      </a:accent5>
      <a:accent6>
        <a:srgbClr val="111111"/>
      </a:accent6>
      <a:hlink>
        <a:srgbClr val="24963E"/>
      </a:hlink>
      <a:folHlink>
        <a:srgbClr val="123F32"/>
      </a:folHlink>
    </a:clrScheme>
    <a:fontScheme name="Fanou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Fanou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23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23</vt:i4>
      </vt:variant>
    </vt:vector>
  </HeadingPairs>
  <TitlesOfParts>
    <vt:vector size="23" baseType="lpstr">
      <vt:lpstr>Complete Project Scope</vt:lpstr>
      <vt:lpstr>Project Identity</vt:lpstr>
      <vt:lpstr>Business Scope</vt:lpstr>
      <vt:lpstr>Technology Stack</vt:lpstr>
      <vt:lpstr>Application Architecture</vt:lpstr>
      <vt:lpstr>User Roles</vt:lpstr>
      <vt:lpstr>Access Control Matrix</vt:lpstr>
      <vt:lpstr>Page And Route Map</vt:lpstr>
      <vt:lpstr>Management Module</vt:lpstr>
      <vt:lpstr>Dorm Student Module</vt:lpstr>
      <vt:lpstr>Dorm Room Module</vt:lpstr>
      <vt:lpstr>Student Representative Finance</vt:lpstr>
      <vt:lpstr>Purchaser And Food Finance</vt:lpstr>
      <vt:lpstr>Library Module</vt:lpstr>
      <vt:lpstr>Cards, Receipts, And Printing</vt:lpstr>
      <vt:lpstr>Transparency And Reporting</vt:lpstr>
      <vt:lpstr>Database Overview</vt:lpstr>
      <vt:lpstr>Core Tables</vt:lpstr>
      <vt:lpstr>Finance Tables</vt:lpstr>
      <vt:lpstr>Library Tables</vt:lpstr>
      <vt:lpstr>Model Relationships</vt:lpstr>
      <vt:lpstr>Validation And Data Integrity</vt:lpstr>
      <vt:lpstr>Project Completion Snapshot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Fanous Project Complete Scope</dc:title>
  <dc:subject>Project scope, stack, database, pages, users, and modules</dc:subject>
  <dc:creator>OpenAI Codex</dc:creator>
  <cp:lastModifiedBy>OpenAI Codex</cp:lastModifiedBy>
  <dcterms:created xsi:type="dcterms:W3CDTF">2026-05-02T07:59:28+02:00</dcterms:created>
  <dcterms:modified xsi:type="dcterms:W3CDTF">2026-05-02T07:59:28+02:00</dcterms:modified>
</cp:coreProperties>
</file>